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0" r:id="rId1"/>
  </p:sldMasterIdLst>
  <p:sldIdLst>
    <p:sldId id="256" r:id="rId2"/>
    <p:sldId id="258" r:id="rId3"/>
    <p:sldId id="259" r:id="rId4"/>
    <p:sldId id="262" r:id="rId5"/>
    <p:sldId id="260" r:id="rId6"/>
    <p:sldId id="261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24BBC-70C5-4A8F-AE35-EBE751CBD671}" type="datetimeFigureOut">
              <a:rPr lang="en-IN" smtClean="0"/>
              <a:t>04-03-2025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48E4301E-B6C2-40D4-8E99-9A7C3787A8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7858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24BBC-70C5-4A8F-AE35-EBE751CBD671}" type="datetimeFigureOut">
              <a:rPr lang="en-IN" smtClean="0"/>
              <a:t>04-03-2025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4301E-B6C2-40D4-8E99-9A7C3787A8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42234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24BBC-70C5-4A8F-AE35-EBE751CBD671}" type="datetimeFigureOut">
              <a:rPr lang="en-IN" smtClean="0"/>
              <a:t>04-03-2025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48E4301E-B6C2-40D4-8E99-9A7C3787A8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2673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24BBC-70C5-4A8F-AE35-EBE751CBD671}" type="datetimeFigureOut">
              <a:rPr lang="en-IN" smtClean="0"/>
              <a:t>04-03-2025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4301E-B6C2-40D4-8E99-9A7C3787A8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5327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24BBC-70C5-4A8F-AE35-EBE751CBD671}" type="datetimeFigureOut">
              <a:rPr lang="en-IN" smtClean="0"/>
              <a:t>04-03-2025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4301E-B6C2-40D4-8E99-9A7C3787A8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1825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24BBC-70C5-4A8F-AE35-EBE751CBD671}" type="datetimeFigureOut">
              <a:rPr lang="en-IN" smtClean="0"/>
              <a:t>04-03-2025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4301E-B6C2-40D4-8E99-9A7C3787A8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21639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24BBC-70C5-4A8F-AE35-EBE751CBD671}" type="datetimeFigureOut">
              <a:rPr lang="en-IN" smtClean="0"/>
              <a:t>04-03-2025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4301E-B6C2-40D4-8E99-9A7C3787A8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643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24BBC-70C5-4A8F-AE35-EBE751CBD671}" type="datetimeFigureOut">
              <a:rPr lang="en-IN" smtClean="0"/>
              <a:t>04-03-2025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4301E-B6C2-40D4-8E99-9A7C3787A8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94885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24BBC-70C5-4A8F-AE35-EBE751CBD671}" type="datetimeFigureOut">
              <a:rPr lang="en-IN" smtClean="0"/>
              <a:t>04-03-2025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4301E-B6C2-40D4-8E99-9A7C3787A8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88604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24BBC-70C5-4A8F-AE35-EBE751CBD671}" type="datetimeFigureOut">
              <a:rPr lang="en-IN" smtClean="0"/>
              <a:t>04-03-2025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48E4301E-B6C2-40D4-8E99-9A7C3787A8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32050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24BBC-70C5-4A8F-AE35-EBE751CBD671}" type="datetimeFigureOut">
              <a:rPr lang="en-IN" smtClean="0"/>
              <a:t>04-03-2025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48E4301E-B6C2-40D4-8E99-9A7C3787A8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3136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24BBC-70C5-4A8F-AE35-EBE751CBD671}" type="datetimeFigureOut">
              <a:rPr lang="en-IN" smtClean="0"/>
              <a:t>04-03-2025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48E4301E-B6C2-40D4-8E99-9A7C3787A815}" type="slidenum">
              <a:rPr lang="en-IN" smtClean="0"/>
              <a:t>‹#›</a:t>
            </a:fld>
            <a:endParaRPr lang="en-IN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705435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24BBC-70C5-4A8F-AE35-EBE751CBD671}" type="datetimeFigureOut">
              <a:rPr lang="en-IN" smtClean="0"/>
              <a:t>04-03-2025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48E4301E-B6C2-40D4-8E99-9A7C3787A8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90853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24BBC-70C5-4A8F-AE35-EBE751CBD671}" type="datetimeFigureOut">
              <a:rPr lang="en-IN" smtClean="0"/>
              <a:t>04-03-2025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4301E-B6C2-40D4-8E99-9A7C3787A8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42915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24BBC-70C5-4A8F-AE35-EBE751CBD671}" type="datetimeFigureOut">
              <a:rPr lang="en-IN" smtClean="0"/>
              <a:t>04-03-2025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4301E-B6C2-40D4-8E99-9A7C3787A8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89235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24BBC-70C5-4A8F-AE35-EBE751CBD671}" type="datetimeFigureOut">
              <a:rPr lang="en-IN" smtClean="0"/>
              <a:t>04-03-2025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4301E-B6C2-40D4-8E99-9A7C3787A8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51578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E7D24BBC-70C5-4A8F-AE35-EBE751CBD671}" type="datetimeFigureOut">
              <a:rPr lang="en-IN" smtClean="0"/>
              <a:t>04-03-2025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48E4301E-B6C2-40D4-8E99-9A7C3787A8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85296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D24BBC-70C5-4A8F-AE35-EBE751CBD671}" type="datetimeFigureOut">
              <a:rPr lang="en-IN" smtClean="0"/>
              <a:t>04-03-2025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E4301E-B6C2-40D4-8E99-9A7C3787A8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095493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  <p:sldLayoutId id="2147483762" r:id="rId12"/>
    <p:sldLayoutId id="2147483763" r:id="rId13"/>
    <p:sldLayoutId id="2147483764" r:id="rId14"/>
    <p:sldLayoutId id="2147483765" r:id="rId15"/>
    <p:sldLayoutId id="2147483766" r:id="rId16"/>
    <p:sldLayoutId id="214748376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026F6-3930-AA2E-A5E6-C8904C9164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ZOMATO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22C95E-FF3F-8365-256A-D844CB58FDC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Data Analysis Project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243345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625BB-2348-AE63-C18C-1E4921AFA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2978" y="212760"/>
            <a:ext cx="9613861" cy="1080938"/>
          </a:xfrm>
        </p:spPr>
        <p:txBody>
          <a:bodyPr>
            <a:normAutofit fontScale="90000"/>
          </a:bodyPr>
          <a:lstStyle/>
          <a:p>
            <a:br>
              <a:rPr lang="en-US" sz="3200" dirty="0"/>
            </a:br>
            <a:br>
              <a:rPr lang="en-US" sz="3200" dirty="0"/>
            </a:br>
            <a:r>
              <a:rPr lang="en-US" sz="3200" dirty="0"/>
              <a:t>         Data Analysis Project Using Python</a:t>
            </a:r>
            <a:endParaRPr lang="en-IN" sz="32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3527C43-36D7-BA72-335F-E8AB2DBF9C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59570"/>
            <a:ext cx="7785781" cy="4808933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1F0D8DC-38AD-DA62-8751-807A389080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5781" y="1834166"/>
            <a:ext cx="4406219" cy="385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4080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A5892-8110-C7B6-21E1-B77136A7D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657" y="402771"/>
            <a:ext cx="9880525" cy="990600"/>
          </a:xfrm>
        </p:spPr>
        <p:txBody>
          <a:bodyPr>
            <a:normAutofit/>
          </a:bodyPr>
          <a:lstStyle/>
          <a:p>
            <a:r>
              <a:rPr lang="en-US" sz="2400" dirty="0"/>
              <a:t>Q-What type of restaurant do the majority of customers order from-</a:t>
            </a:r>
            <a:endParaRPr lang="en-IN" sz="24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2E87DF3-172A-2E6D-781D-A7850DD22C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70313"/>
            <a:ext cx="8218714" cy="4974773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2C1578B-AB1E-7F3B-9FA2-7D9B366CA967}"/>
              </a:ext>
            </a:extLst>
          </p:cNvPr>
          <p:cNvSpPr txBox="1"/>
          <p:nvPr/>
        </p:nvSpPr>
        <p:spPr>
          <a:xfrm>
            <a:off x="8218715" y="1970313"/>
            <a:ext cx="3973286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>
                <a:solidFill>
                  <a:schemeClr val="bg1"/>
                </a:solidFill>
              </a:rPr>
              <a:t>   Conclusion-</a:t>
            </a:r>
          </a:p>
          <a:p>
            <a:endParaRPr lang="en-IN" sz="2400" dirty="0">
              <a:solidFill>
                <a:schemeClr val="bg1"/>
              </a:solidFill>
            </a:endParaRPr>
          </a:p>
          <a:p>
            <a:r>
              <a:rPr lang="en-IN" sz="2400" dirty="0"/>
              <a:t>Majority of the restaurant</a:t>
            </a:r>
          </a:p>
          <a:p>
            <a:r>
              <a:rPr lang="en-IN" sz="2400" dirty="0"/>
              <a:t>falls in dining category.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0705468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E1D8D-FA97-57B3-0116-4912F7C20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Q-How many votes has each type of restaurant received from customers-</a:t>
            </a:r>
            <a:endParaRPr lang="en-IN" sz="24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0CD9A85-3CA3-F922-BC56-54F4083B07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57400"/>
            <a:ext cx="7887230" cy="4800600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6957490-2C2A-7222-7120-FF2260DEAC24}"/>
              </a:ext>
            </a:extLst>
          </p:cNvPr>
          <p:cNvSpPr txBox="1"/>
          <p:nvPr/>
        </p:nvSpPr>
        <p:spPr>
          <a:xfrm>
            <a:off x="7887230" y="2057400"/>
            <a:ext cx="4304770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C</a:t>
            </a:r>
            <a:r>
              <a:rPr lang="en-IN" sz="3200" dirty="0" err="1">
                <a:solidFill>
                  <a:schemeClr val="bg1"/>
                </a:solidFill>
              </a:rPr>
              <a:t>onclusion</a:t>
            </a:r>
            <a:r>
              <a:rPr lang="en-IN" sz="3200" dirty="0">
                <a:solidFill>
                  <a:schemeClr val="bg1"/>
                </a:solidFill>
              </a:rPr>
              <a:t>-</a:t>
            </a:r>
          </a:p>
          <a:p>
            <a:endParaRPr lang="en-IN" sz="2400" dirty="0"/>
          </a:p>
          <a:p>
            <a:r>
              <a:rPr lang="en-IN" sz="2400" dirty="0"/>
              <a:t>Dining restaurant has received maximum votes.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4253713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74872-28A6-BDB2-58B2-CE41D95A7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0" dirty="0">
                <a:effectLst/>
                <a:latin typeface="Consolas" panose="020B0609020204030204" pitchFamily="49" charset="0"/>
              </a:rPr>
              <a:t>Q3-What are rating majority of customer have received.</a:t>
            </a:r>
            <a:br>
              <a:rPr lang="en-US" sz="2400" b="0" dirty="0">
                <a:effectLst/>
                <a:latin typeface="Consolas" panose="020B0609020204030204" pitchFamily="49" charset="0"/>
              </a:rPr>
            </a:br>
            <a:endParaRPr lang="en-IN" sz="24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81687BC-CB5F-A1C3-22C7-6322BCB0B3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33404"/>
            <a:ext cx="7478486" cy="4924595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B67019C-37BE-7E46-38BC-50B782C6C927}"/>
              </a:ext>
            </a:extLst>
          </p:cNvPr>
          <p:cNvSpPr txBox="1"/>
          <p:nvPr/>
        </p:nvSpPr>
        <p:spPr>
          <a:xfrm>
            <a:off x="7478486" y="2024743"/>
            <a:ext cx="4615543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i="1" u="sng" dirty="0">
                <a:solidFill>
                  <a:schemeClr val="bg1"/>
                </a:solidFill>
              </a:rPr>
              <a:t>   Conclusion-</a:t>
            </a:r>
          </a:p>
          <a:p>
            <a:endParaRPr lang="en-US" sz="2400" dirty="0"/>
          </a:p>
          <a:p>
            <a:r>
              <a:rPr lang="en-US" sz="2400" b="0" dirty="0">
                <a:effectLst/>
                <a:latin typeface="Consolas" panose="020B0609020204030204" pitchFamily="49" charset="0"/>
              </a:rPr>
              <a:t>The rating majority of customer have received rating from 3.5 to 4.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656888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F843E-24B0-9A84-C63A-D8505FF5C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b="0" dirty="0">
                <a:effectLst/>
                <a:latin typeface="Consolas" panose="020B0609020204030204" pitchFamily="49" charset="0"/>
              </a:rPr>
              <a:t>Q4-Zomato has observed that most couples order most of their food online. What is their average spending on each other.</a:t>
            </a:r>
            <a:br>
              <a:rPr lang="en-US" sz="2400" b="0" dirty="0">
                <a:effectLst/>
                <a:latin typeface="Consolas" panose="020B0609020204030204" pitchFamily="49" charset="0"/>
              </a:rPr>
            </a:br>
            <a:endParaRPr lang="en-IN" sz="24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1A7F25C-3CED-0755-E8A0-A5A333F62A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82390"/>
            <a:ext cx="7532914" cy="4875609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E71636D-A3E1-06DA-9E90-6E74491A5893}"/>
              </a:ext>
            </a:extLst>
          </p:cNvPr>
          <p:cNvSpPr txBox="1"/>
          <p:nvPr/>
        </p:nvSpPr>
        <p:spPr>
          <a:xfrm>
            <a:off x="7532913" y="1982390"/>
            <a:ext cx="4659087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i="1" u="sng" dirty="0">
                <a:solidFill>
                  <a:schemeClr val="bg1"/>
                </a:solidFill>
              </a:rPr>
              <a:t>    Conclusion-</a:t>
            </a:r>
          </a:p>
          <a:p>
            <a:endParaRPr lang="en-US" sz="3200" b="1" i="1" u="sng" dirty="0">
              <a:solidFill>
                <a:schemeClr val="bg1"/>
              </a:solidFill>
            </a:endParaRPr>
          </a:p>
          <a:p>
            <a:r>
              <a:rPr lang="en-US" sz="2400" dirty="0"/>
              <a:t>The majority of couples prefer restaurant with approximation cost of 300 rupees.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8587925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4780F-4808-8F83-11C6-D3BF232AB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Q5-Which mode(online or offline) has received the maximum rating.</a:t>
            </a:r>
            <a:endParaRPr lang="en-IN" sz="24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6D244E8-D6D3-E365-7C3D-263244AFDC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46616"/>
            <a:ext cx="7260771" cy="5012305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7A05566-76DF-F1E6-C672-46F059C9657F}"/>
              </a:ext>
            </a:extLst>
          </p:cNvPr>
          <p:cNvSpPr txBox="1"/>
          <p:nvPr/>
        </p:nvSpPr>
        <p:spPr>
          <a:xfrm>
            <a:off x="7260771" y="1946616"/>
            <a:ext cx="4931229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i="1" u="sng" dirty="0">
                <a:solidFill>
                  <a:schemeClr val="bg1"/>
                </a:solidFill>
              </a:rPr>
              <a:t>   Conclusion-</a:t>
            </a:r>
          </a:p>
          <a:p>
            <a:endParaRPr lang="en-US" sz="3200" b="1" i="1" u="sng" dirty="0">
              <a:solidFill>
                <a:schemeClr val="bg1"/>
              </a:solidFill>
            </a:endParaRPr>
          </a:p>
          <a:p>
            <a:r>
              <a:rPr lang="en-US" sz="2400" dirty="0"/>
              <a:t>Offline order received lower rating as compared to online order.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1790425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05956-CAEF-F035-7513-9F4672845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Q6-Which type of restaurant received more offline </a:t>
            </a:r>
            <a:r>
              <a:rPr lang="en-US" sz="2400" dirty="0" err="1"/>
              <a:t>orders,so</a:t>
            </a:r>
            <a:r>
              <a:rPr lang="en-US" sz="2400" dirty="0"/>
              <a:t> that Zomato can customers with some good offers.</a:t>
            </a:r>
            <a:endParaRPr lang="en-IN" sz="24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6152A9C-C79E-D38F-586B-C5DB6AB099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59429"/>
            <a:ext cx="7206909" cy="4898571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C278526-6C60-2069-F56E-93B709463DD8}"/>
              </a:ext>
            </a:extLst>
          </p:cNvPr>
          <p:cNvSpPr txBox="1"/>
          <p:nvPr/>
        </p:nvSpPr>
        <p:spPr>
          <a:xfrm>
            <a:off x="7304314" y="2383971"/>
            <a:ext cx="4887686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i="1" u="sng" dirty="0">
                <a:solidFill>
                  <a:schemeClr val="bg1"/>
                </a:solidFill>
              </a:rPr>
              <a:t>   Conclusion-</a:t>
            </a:r>
          </a:p>
          <a:p>
            <a:endParaRPr lang="en-US" sz="3200" b="1" i="1" u="sng" dirty="0">
              <a:solidFill>
                <a:schemeClr val="bg1"/>
              </a:solidFill>
            </a:endParaRPr>
          </a:p>
          <a:p>
            <a:r>
              <a:rPr lang="en-US" sz="2400" dirty="0">
                <a:latin typeface="Consolas" panose="020B0609020204030204" pitchFamily="49" charset="0"/>
              </a:rPr>
              <a:t>D</a:t>
            </a:r>
            <a:r>
              <a:rPr lang="en-US" sz="2400" b="0" dirty="0">
                <a:effectLst/>
                <a:latin typeface="Consolas" panose="020B0609020204030204" pitchFamily="49" charset="0"/>
              </a:rPr>
              <a:t>ining restaurant primarily accept offline orders, whereas cafes primarily receive online orders</a:t>
            </a:r>
          </a:p>
          <a:p>
            <a:endParaRPr lang="en-IN" sz="2400" b="1" i="1" u="sng" dirty="0"/>
          </a:p>
        </p:txBody>
      </p:sp>
    </p:spTree>
    <p:extLst>
      <p:ext uri="{BB962C8B-B14F-4D97-AF65-F5344CB8AC3E}">
        <p14:creationId xmlns:p14="http://schemas.microsoft.com/office/powerpoint/2010/main" val="1458727813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137</TotalTime>
  <Words>177</Words>
  <Application>Microsoft Office PowerPoint</Application>
  <PresentationFormat>Widescreen</PresentationFormat>
  <Paragraphs>28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Consolas</vt:lpstr>
      <vt:lpstr>Trebuchet MS</vt:lpstr>
      <vt:lpstr>Berlin</vt:lpstr>
      <vt:lpstr>ZOMATO</vt:lpstr>
      <vt:lpstr>           Data Analysis Project Using Python</vt:lpstr>
      <vt:lpstr>Q-What type of restaurant do the majority of customers order from-</vt:lpstr>
      <vt:lpstr>Q-How many votes has each type of restaurant received from customers-</vt:lpstr>
      <vt:lpstr>Q3-What are rating majority of customer have received. </vt:lpstr>
      <vt:lpstr>Q4-Zomato has observed that most couples order most of their food online. What is their average spending on each other. </vt:lpstr>
      <vt:lpstr>Q5-Which mode(online or offline) has received the maximum rating.</vt:lpstr>
      <vt:lpstr>Q6-Which type of restaurant received more offline orders,so that Zomato can customers with some good offers.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Manasvi Gupta</dc:creator>
  <cp:lastModifiedBy>Manasvi Gupta</cp:lastModifiedBy>
  <cp:revision>1</cp:revision>
  <dcterms:created xsi:type="dcterms:W3CDTF">2025-03-04T16:17:07Z</dcterms:created>
  <dcterms:modified xsi:type="dcterms:W3CDTF">2025-03-04T18:35:04Z</dcterms:modified>
</cp:coreProperties>
</file>